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2E74B5"/>
                </a:solidFill>
              </a:defRPr>
            </a:pPr>
            <a:r>
              <a:t>AI Value Studio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>
                <a:solidFill>
                  <a:srgbClr val="1F4E79"/>
                </a:solidFill>
              </a:defRPr>
            </a:pPr>
            <a:r>
              <a:t>Framework for Turning AI Ideas into Business Value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74B5"/>
                </a:solidFill>
              </a:defRPr>
            </a:pPr>
            <a:r>
              <a:t>What is AI Value Studio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A reusable AI advisory and assessment framework</a:t>
            </a:r>
          </a:p>
          <a:p>
            <a:pPr>
              <a:defRPr sz="1800">
                <a:latin typeface="Calibri"/>
              </a:defRPr>
            </a:pPr>
            <a:r>
              <a:t>Turns business problems into prioritized, measurable, and governable AI use cases</a:t>
            </a:r>
          </a:p>
          <a:p>
            <a:pPr>
              <a:defRPr sz="1800">
                <a:latin typeface="Calibri"/>
              </a:defRPr>
            </a:pPr>
            <a:r>
              <a:t>Supports the full path: Business discovery → Use case definition → Value assessment → Readiness → Governance → Prioritization → Pilot → Scale</a:t>
            </a:r>
          </a:p>
          <a:p>
            <a:pPr>
              <a:defRPr sz="1800">
                <a:latin typeface="Calibri"/>
              </a:defRPr>
            </a:pPr>
            <a:r>
              <a:t>Positioned as the AMOA and decision layer before technology investment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74B5"/>
                </a:solidFill>
              </a:defRPr>
            </a:pPr>
            <a:r>
              <a:t>Assessment Dimensions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Business Value</a:t>
            </a:r>
          </a:p>
          <a:p>
            <a:pPr>
              <a:defRPr sz="1800">
                <a:latin typeface="Calibri"/>
              </a:defRPr>
            </a:pPr>
            <a:r>
              <a:t>Current Friction</a:t>
            </a:r>
          </a:p>
          <a:p>
            <a:pPr>
              <a:defRPr sz="1800">
                <a:latin typeface="Calibri"/>
              </a:defRPr>
            </a:pPr>
            <a:r>
              <a:t>Data Readiness</a:t>
            </a:r>
          </a:p>
          <a:p>
            <a:pPr>
              <a:defRPr sz="1800">
                <a:latin typeface="Calibri"/>
              </a:defRPr>
            </a:pPr>
            <a:r>
              <a:t>Technical Feasibility</a:t>
            </a:r>
          </a:p>
          <a:p>
            <a:pPr>
              <a:defRPr sz="1800">
                <a:latin typeface="Calibri"/>
              </a:defRPr>
            </a:pPr>
            <a:r>
              <a:t>Adoption Potential</a:t>
            </a:r>
          </a:p>
          <a:p>
            <a:pPr>
              <a:defRPr sz="1800">
                <a:latin typeface="Calibri"/>
              </a:defRPr>
            </a:pPr>
            <a:r>
              <a:t>Risk and Governance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74B5"/>
                </a:solidFill>
              </a:defRPr>
            </a:pPr>
            <a:r>
              <a:t>Commercial Offers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AI Value Discovery Sprint: 1–2 weeks to identify 5–10 AI opportunities</a:t>
            </a:r>
          </a:p>
          <a:p>
            <a:pPr>
              <a:defRPr sz="1800">
                <a:latin typeface="Calibri"/>
              </a:defRPr>
            </a:pPr>
            <a:r>
              <a:t>AI Portfolio &amp; Business Case Assessment: 3–5 weeks to prioritize and build roadmap</a:t>
            </a:r>
          </a:p>
          <a:p>
            <a:pPr>
              <a:defRPr sz="1800">
                <a:latin typeface="Calibri"/>
              </a:defRPr>
            </a:pPr>
            <a:r>
              <a:t>AI Pilot Activation: 6–12 weeks to turn a use case into an operational pilot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74B5"/>
                </a:solidFill>
              </a:defRPr>
            </a:pPr>
            <a:r>
              <a:t>Use Case Example: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Title: Assistant de Triage IA pour les Urgences</a:t>
            </a:r>
          </a:p>
          <a:p>
            <a:pPr>
              <a:defRPr sz="1800">
                <a:latin typeface="Calibri"/>
              </a:defRPr>
            </a:pPr>
            <a:r>
              <a:t>Organization: Centre Hospitalier Universitaire Demo</a:t>
            </a:r>
          </a:p>
          <a:p>
            <a:pPr>
              <a:defRPr sz="1800">
                <a:latin typeface="Calibri"/>
              </a:defRPr>
            </a:pPr>
            <a:r>
              <a:t>Problem: Temps d'attente moyen de 4h, taux de reprise 15%</a:t>
            </a:r>
          </a:p>
          <a:p>
            <a:pPr>
              <a:defRPr sz="1800">
                <a:latin typeface="Calibri"/>
              </a:defRPr>
            </a:pPr>
            <a:r>
              <a:t>AI Solution: Assistant IA supervisé pour qualification, recommandation, validation humaine obligatoire</a:t>
            </a:r>
          </a:p>
          <a:p>
            <a:pPr>
              <a:defRPr sz="1800">
                <a:latin typeface="Calibri"/>
              </a:defRPr>
            </a:pPr>
            <a:r>
              <a:t>Estimated Net Value: 96,000 €/an</a:t>
            </a:r>
          </a:p>
          <a:p>
            <a:pPr>
              <a:defRPr sz="1800">
                <a:latin typeface="Calibri"/>
              </a:defRPr>
            </a:pPr>
            <a:r>
              <a:t>Priority Score: 4.05 (Quick Win)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74B5"/>
                </a:solidFill>
              </a:defRPr>
            </a:pPr>
            <a:r>
              <a:t>Use Case Example: Finance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Title: Surveillance IA des Transactions Suspectes</a:t>
            </a:r>
          </a:p>
          <a:p>
            <a:pPr>
              <a:defRPr sz="1800">
                <a:latin typeface="Calibri"/>
              </a:defRPr>
            </a:pPr>
            <a:r>
              <a:t>Organization: Banque Demo</a:t>
            </a:r>
          </a:p>
          <a:p>
            <a:pPr>
              <a:defRPr sz="1800">
                <a:latin typeface="Calibri"/>
              </a:defRPr>
            </a:pPr>
            <a:r>
              <a:t>Problem: Analyse manuelle lente, taux de faux positifs élevé</a:t>
            </a:r>
          </a:p>
          <a:p>
            <a:pPr>
              <a:defRPr sz="1800">
                <a:latin typeface="Calibri"/>
              </a:defRPr>
            </a:pPr>
            <a:r>
              <a:t>AI Solution: Assistant IA de scoring de risque en temps réel avec explication et validation humaine obligatoire</a:t>
            </a:r>
          </a:p>
          <a:p>
            <a:pPr>
              <a:defRPr sz="1800">
                <a:latin typeface="Calibri"/>
              </a:defRPr>
            </a:pPr>
            <a:r>
              <a:t>Key Risks: Biais algorithmique, erreurs de classification, conformité réglementaire</a:t>
            </a:r>
          </a:p>
          <a:p>
            <a:pPr>
              <a:defRPr sz="1800">
                <a:latin typeface="Calibri"/>
              </a:defRPr>
            </a:pPr>
            <a:r>
              <a:t>Dependencies: Core bancaire, outil de gestion des alertes, base de données de référence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74B5"/>
                </a:solidFill>
              </a:defRPr>
            </a:pPr>
            <a:r>
              <a:t>Use Case Example: Generic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Title: AI Case Processing - Remboursements</a:t>
            </a:r>
          </a:p>
          <a:p>
            <a:pPr>
              <a:defRPr sz="1800">
                <a:latin typeface="Calibri"/>
              </a:defRPr>
            </a:pPr>
            <a:r>
              <a:t>Organization: Client Démo</a:t>
            </a:r>
          </a:p>
          <a:p>
            <a:pPr>
              <a:defRPr sz="1800">
                <a:latin typeface="Calibri"/>
              </a:defRPr>
            </a:pPr>
            <a:r>
              <a:t>Problem: Délais et reprises élevées</a:t>
            </a:r>
          </a:p>
          <a:p>
            <a:pPr>
              <a:defRPr sz="1800">
                <a:latin typeface="Calibri"/>
              </a:defRPr>
            </a:pPr>
            <a:r>
              <a:t>AI Solution: Extraction et contrôle de complétude assistés par IA</a:t>
            </a:r>
          </a:p>
          <a:p>
            <a:pPr>
              <a:defRPr sz="1800">
                <a:latin typeface="Calibri"/>
              </a:defRPr>
            </a:pPr>
            <a:r>
              <a:t>Estimated Net Value: 206,800 €/an</a:t>
            </a:r>
          </a:p>
          <a:p>
            <a:pPr>
              <a:defRPr sz="1800">
                <a:latin typeface="Calibri"/>
              </a:defRPr>
            </a:pPr>
            <a:r>
              <a:t>Priority Score: 4.05 (Quick Win)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74B5"/>
                </a:solidFill>
              </a:defRPr>
            </a:pPr>
            <a:r>
              <a:t>Next Steps for Clients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Engage in an AI Value Discovery Sprint to identify opportunities</a:t>
            </a:r>
          </a:p>
          <a:p>
            <a:pPr>
              <a:defRPr sz="1800">
                <a:latin typeface="Calibri"/>
              </a:defRPr>
            </a:pPr>
            <a:r>
              <a:t>Prioritize use cases with AI Portfolio &amp; Business Case Assessment</a:t>
            </a:r>
          </a:p>
          <a:p>
            <a:pPr>
              <a:defRPr sz="1800">
                <a:latin typeface="Calibri"/>
              </a:defRPr>
            </a:pPr>
            <a:r>
              <a:t>Activate a pilot with AI Pilot Activation</a:t>
            </a:r>
          </a:p>
          <a:p>
            <a:pPr>
              <a:defRPr sz="1800">
                <a:latin typeface="Calibri"/>
              </a:defRPr>
            </a:pPr>
            <a:r>
              <a:t>Scale successful pilots across the organization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